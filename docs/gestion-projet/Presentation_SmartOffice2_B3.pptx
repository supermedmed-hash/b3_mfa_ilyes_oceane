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[Océane]</a:t>
            </a:r>
          </a:p>
          <a:p>
            <a:r>
              <a:t>Bonjour à tous et merci de nous recevoir. Nous sommes l'équipe en charge de la transformation numérique de Biotech Corp. Aujourd'hui, nous allons vous présenter le socle technologique du projet 'Smart Office 2.0'. L'entreprise passant de 50 à 200 collaborateurs avec une forte culture du télétravail, notre mission a été de concevoir une infrastructure à la fois scalable, hyper-sécurisée et résiliente. Nous allons vous démontrer comment nous avons répondu à ce cahier des charges exigeant.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[Océane]</a:t>
            </a:r>
          </a:p>
          <a:p>
            <a:r>
              <a:t>Face à l'hyper-croissance de Biotech Corp, le 100% local n'était plus viable financièrement, et le 100% Cloud posait des problèmes de souveraineté des données de R&amp;D. Nous avons donc opté pour une approche Hybride.</a:t>
            </a:r>
          </a:p>
          <a:p>
            <a:r>
              <a:t>Comme vous le voyez sur ce schéma conceptuel, nous conservons nos serveurs critiques 'On-Premise' pour la sécurité. En revanche, l'application métier Web est déportée sur le Cloud Microsoft Azure via le service PaaS 'App Service'.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[Ilyes]</a:t>
            </a:r>
          </a:p>
          <a:p>
            <a:r>
              <a:t>Merci Océane. Le cœur de notre hybridation repose sur un tunnel VPN IPsec IKEv2 monté entre notre pare-feu local pfSense et la passerelle Azure. C'est ce tunnel qui permet à l'application Cloud de requêter nos bases locales de manière transparente et sécurisée.</a:t>
            </a:r>
          </a:p>
          <a:p>
            <a:r>
              <a:t>Côté LAN, nous avons structuré le réseau en VLANs stricts : le VLAN 20 pour les employés, et un VLAN 30 ultra-isolé pour la R&amp;D. Le réseau Wi-Fi d'entreprise s'appuie sur une authentification 802.1X.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[Ilyes]</a:t>
            </a:r>
          </a:p>
          <a:p>
            <a:r>
              <a:t>Notre politique de sécurité est dictée par le modèle Zero Trust. Le pare-feu pfSense agit en 'Default Deny'. Par exemple, le réseau des employés ne peut techniquement pas atteindre le réseau de la R&amp;D.</a:t>
            </a:r>
          </a:p>
          <a:p>
            <a:r>
              <a:t>De plus, face aux risques de cyberattaques et aux exigences du télétravail, nous avons implémenté des accès distants sécurisés via OpenVPN pour nos collaborateurs, avec une authentification forte.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[Mehdi]</a:t>
            </a:r>
          </a:p>
          <a:p>
            <a:r>
              <a:t>Pour soutenir cette infrastructure moderne, nous avons adopté une démarche DevOps complète. Notre application métier est conteneurisée avec Docker. Cela garantit une portabilité parfaite.</a:t>
            </a:r>
          </a:p>
          <a:p>
            <a:r>
              <a:t>Le déploiement est entièrement automatisé via des pipelines CI/CD sur GitHub Actions. À chaque commit, une nouvelle image est générée, poussée dans notre registre Azure (ACR), et déployée en 'Zero Downtime' sur l'App Service Azure.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[Mehdi]</a:t>
            </a:r>
          </a:p>
          <a:p>
            <a:r>
              <a:t>Côté données, nous utilisons une approche polyglotte : PostgreSQL pour garantir l'intégrité de nos réservations, et MongoDB pour absorber le flux massif de logs de nos capteurs IoT.</a:t>
            </a:r>
          </a:p>
          <a:p>
            <a:r>
              <a:t>Pour protéger ces données vitales, nous appliquons la règle de sauvegarde du 3-2-1 : 3 copies des données, sur 2 supports différents (NAS Synology en RAID et disques SSD locaux), dont 1 copie externalisée et immuable sur un stockage Cloud.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[Florian]</a:t>
            </a:r>
          </a:p>
          <a:p>
            <a:r>
              <a:t>Une telle infrastructure nécessite un monitoring proactif. Nous avons déployé une stack de supervision double : Zabbix pour l'IT, et Grafana pour le management et la data.</a:t>
            </a:r>
          </a:p>
          <a:p>
            <a:r>
              <a:t>Comme vous le voyez sur cette maquette, Zabbix scrute l'état du tunnel VPN, l'espace disque de l'AD, et la charge de nos VM. Si le tunnel VPN IPsec tombe, des alertes sont remontées automatiquement. Grafana est directement pluggé sur notre base MongoDB pour afficher en temps réel l'utilisation des locaux.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[Florian]</a:t>
            </a:r>
          </a:p>
          <a:p>
            <a:r>
              <a:t>Enfin, la technique ne suffit pas sans processus. Nous avons structuré la gestion des incidents (ITSM) et réalisé une Analyse d'Impact sur l'Activité (BIA).</a:t>
            </a:r>
          </a:p>
          <a:p>
            <a:r>
              <a:t>Ce BIA a conduit à notre Plan de Reprise d'Activité (PRA). Par exemple, en cas de sinistre majeur sur notre baie serveur principale On-Premise, notre objectif de délai de reprise (RTO) est fixé à 4 heures. L'application Azure, elle, restera en ligne.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[Équipe]</a:t>
            </a:r>
          </a:p>
          <a:p>
            <a:r>
              <a:t>Pour conclure, le projet Smart Office 2.0 répond à tous les enjeux de Biotech Corp : une base locale souveraine et sécurisée, propulsée par la flexibilité du Cloud pour absorber la croissance. Nous avons respecté le budget, sécurisé les accès via du Zero Trust, et automatisé les tâches chronophages avec du CI/CD.</a:t>
            </a:r>
          </a:p>
          <a:p>
            <a:r>
              <a:t>Nous vous remercions pour votre attention et sommes maintenant à votre disposition pour la démonstration.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C8FF"/>
                </a:solidFill>
              </a:defRPr>
            </a:pPr>
            <a:r>
              <a:t>Smart Office 2.0</a:t>
            </a:r>
          </a:p>
        </p:txBody>
      </p:sp>
      <p:sp>
        <p:nvSpPr>
          <p:cNvPr id="3" name="Subtitle 2"/>
          <p:cNvSpPr>
            <a:spLocks noGrp="1"/>
          </p:cNvSpPr>
          <p:nvPr>
            <p:ph type="subTitle" idx="1"/>
          </p:nvPr>
        </p:nvSpPr>
        <p:spPr/>
        <p:txBody>
          <a:bodyPr/>
          <a:lstStyle/>
          <a:p>
            <a:pPr>
              <a:defRPr>
                <a:solidFill>
                  <a:srgbClr val="C8C8C8"/>
                </a:solidFill>
              </a:defRPr>
            </a:pPr>
            <a:r>
              <a:t>Soutenance Orale - Équipe B3</a:t>
            </a:r>
          </a:p>
          <a:p>
            <a:r>
              <a:t>Océane, Florian, Ilyes, Mehdi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Le Choix Stratégique - L'Architecture Hybride</a:t>
            </a:r>
          </a:p>
        </p:txBody>
      </p:sp>
      <p:sp>
        <p:nvSpPr>
          <p:cNvPr id="3" name="Content Placeholder 2"/>
          <p:cNvSpPr>
            <a:spLocks noGrp="1"/>
          </p:cNvSpPr>
          <p:nvPr>
            <p:ph idx="1" sz="half"/>
          </p:nvPr>
        </p:nvSpPr>
        <p:spPr/>
        <p:txBody>
          <a:bodyPr/>
          <a:lstStyle/>
          <a:p>
            <a:pPr>
              <a:defRPr sz="2400">
                <a:solidFill>
                  <a:srgbClr val="E6E6E6"/>
                </a:solidFill>
                <a:latin typeface="Segoe UI"/>
              </a:defRPr>
            </a:pPr>
            <a:r>
              <a:t>• Hyper-croissance de l'entreprise</a:t>
            </a:r>
          </a:p>
          <a:p>
            <a:pPr>
              <a:defRPr sz="2400">
                <a:solidFill>
                  <a:srgbClr val="E6E6E6"/>
                </a:solidFill>
                <a:latin typeface="Segoe UI"/>
              </a:defRPr>
            </a:pPr>
            <a:r>
              <a:t>• Besoin de souveraineté des données</a:t>
            </a:r>
          </a:p>
          <a:p>
            <a:pPr>
              <a:defRPr sz="2400">
                <a:solidFill>
                  <a:srgbClr val="E6E6E6"/>
                </a:solidFill>
                <a:latin typeface="Segoe UI"/>
              </a:defRPr>
            </a:pPr>
            <a:r>
              <a:t>• Réduction du TCO (-74% sur 3 ans)</a:t>
            </a:r>
          </a:p>
          <a:p>
            <a:pPr>
              <a:defRPr sz="2400">
                <a:solidFill>
                  <a:srgbClr val="E6E6E6"/>
                </a:solidFill>
                <a:latin typeface="Segoe UI"/>
              </a:defRPr>
            </a:pPr>
            <a:r>
              <a:t>• Application web sur Azure PaaS</a:t>
            </a:r>
          </a:p>
        </p:txBody>
      </p:sp>
      <p:pic>
        <p:nvPicPr>
          <p:cNvPr id="4" name="Picture 3" descr="hybrid_cloud_concept.pn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Architecture Réseau &amp; Connectivité</a:t>
            </a:r>
          </a:p>
        </p:txBody>
      </p:sp>
      <p:sp>
        <p:nvSpPr>
          <p:cNvPr id="3" name="Content Placeholder 2"/>
          <p:cNvSpPr>
            <a:spLocks noGrp="1"/>
          </p:cNvSpPr>
          <p:nvPr>
            <p:ph idx="1"/>
          </p:nvPr>
        </p:nvSpPr>
        <p:spPr/>
        <p:txBody>
          <a:bodyPr/>
          <a:lstStyle/>
          <a:p>
            <a:pPr>
              <a:defRPr sz="2400">
                <a:solidFill>
                  <a:srgbClr val="E6E6E6"/>
                </a:solidFill>
                <a:latin typeface="Segoe UI"/>
              </a:defRPr>
            </a:pPr>
            <a:r>
              <a:t>• Tunnel VPN IPsec IKEv2</a:t>
            </a:r>
          </a:p>
          <a:p>
            <a:pPr>
              <a:defRPr sz="2400">
                <a:solidFill>
                  <a:srgbClr val="E6E6E6"/>
                </a:solidFill>
                <a:latin typeface="Segoe UI"/>
              </a:defRPr>
            </a:pPr>
            <a:r>
              <a:t>• Segmentation stricte en VLANs (Employés, R&amp;D)</a:t>
            </a:r>
          </a:p>
          <a:p>
            <a:pPr>
              <a:defRPr sz="2400">
                <a:solidFill>
                  <a:srgbClr val="E6E6E6"/>
                </a:solidFill>
                <a:latin typeface="Segoe UI"/>
              </a:defRPr>
            </a:pPr>
            <a:r>
              <a:t>• Wi-Fi 802.1X relié à l'Active Directory</a:t>
            </a:r>
          </a:p>
          <a:p>
            <a:pPr>
              <a:defRPr sz="2400">
                <a:solidFill>
                  <a:srgbClr val="E6E6E6"/>
                </a:solidFill>
                <a:latin typeface="Segoe UI"/>
              </a:defRPr>
            </a:pPr>
            <a:r>
              <a:t>• Haute Disponibilité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Sécurité &amp; Modèle Zero Trust</a:t>
            </a:r>
          </a:p>
        </p:txBody>
      </p:sp>
      <p:sp>
        <p:nvSpPr>
          <p:cNvPr id="3" name="Content Placeholder 2"/>
          <p:cNvSpPr>
            <a:spLocks noGrp="1"/>
          </p:cNvSpPr>
          <p:nvPr>
            <p:ph idx="1"/>
          </p:nvPr>
        </p:nvSpPr>
        <p:spPr/>
        <p:txBody>
          <a:bodyPr/>
          <a:lstStyle/>
          <a:p>
            <a:pPr>
              <a:defRPr sz="2400">
                <a:solidFill>
                  <a:srgbClr val="E6E6E6"/>
                </a:solidFill>
                <a:latin typeface="Segoe UI"/>
              </a:defRPr>
            </a:pPr>
            <a:r>
              <a:t>• Pare-feu pfSense en 'Default Deny'</a:t>
            </a:r>
          </a:p>
          <a:p>
            <a:pPr>
              <a:defRPr sz="2400">
                <a:solidFill>
                  <a:srgbClr val="E6E6E6"/>
                </a:solidFill>
                <a:latin typeface="Segoe UI"/>
              </a:defRPr>
            </a:pPr>
            <a:r>
              <a:t>• Aucune communication Employés -&gt; R&amp;D</a:t>
            </a:r>
          </a:p>
          <a:p>
            <a:pPr>
              <a:defRPr sz="2400">
                <a:solidFill>
                  <a:srgbClr val="E6E6E6"/>
                </a:solidFill>
                <a:latin typeface="Segoe UI"/>
              </a:defRPr>
            </a:pPr>
            <a:r>
              <a:t>• Accès distants VPN OpenVPN sécurisés</a:t>
            </a:r>
          </a:p>
          <a:p>
            <a:pPr>
              <a:defRPr sz="2400">
                <a:solidFill>
                  <a:srgbClr val="E6E6E6"/>
                </a:solidFill>
                <a:latin typeface="Segoe UI"/>
              </a:defRPr>
            </a:pPr>
            <a:r>
              <a:t>• Réduction drastique de la surface d'attaque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L'Usine Logicielle (DevOps)</a:t>
            </a:r>
          </a:p>
        </p:txBody>
      </p:sp>
      <p:sp>
        <p:nvSpPr>
          <p:cNvPr id="3" name="Content Placeholder 2"/>
          <p:cNvSpPr>
            <a:spLocks noGrp="1"/>
          </p:cNvSpPr>
          <p:nvPr>
            <p:ph idx="1" sz="half"/>
          </p:nvPr>
        </p:nvSpPr>
        <p:spPr/>
        <p:txBody>
          <a:bodyPr/>
          <a:lstStyle/>
          <a:p>
            <a:pPr>
              <a:defRPr sz="2400">
                <a:solidFill>
                  <a:srgbClr val="E6E6E6"/>
                </a:solidFill>
                <a:latin typeface="Segoe UI"/>
              </a:defRPr>
            </a:pPr>
            <a:r>
              <a:t>• Application conteneurisée avec Docker</a:t>
            </a:r>
          </a:p>
          <a:p>
            <a:pPr>
              <a:defRPr sz="2400">
                <a:solidFill>
                  <a:srgbClr val="E6E6E6"/>
                </a:solidFill>
                <a:latin typeface="Segoe UI"/>
              </a:defRPr>
            </a:pPr>
            <a:r>
              <a:t>• CI/CD avec GitHub Actions</a:t>
            </a:r>
          </a:p>
          <a:p>
            <a:pPr>
              <a:defRPr sz="2400">
                <a:solidFill>
                  <a:srgbClr val="E6E6E6"/>
                </a:solidFill>
                <a:latin typeface="Segoe UI"/>
              </a:defRPr>
            </a:pPr>
            <a:r>
              <a:t>• Azure Container Registry (ACR)</a:t>
            </a:r>
          </a:p>
          <a:p>
            <a:pPr>
              <a:defRPr sz="2400">
                <a:solidFill>
                  <a:srgbClr val="E6E6E6"/>
                </a:solidFill>
                <a:latin typeface="Segoe UI"/>
              </a:defRPr>
            </a:pPr>
            <a:r>
              <a:t>• Déploiement en Zero Downtime</a:t>
            </a:r>
          </a:p>
        </p:txBody>
      </p:sp>
      <p:pic>
        <p:nvPicPr>
          <p:cNvPr id="4" name="Picture 3" descr="smart_office_infra.pn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Stratégie Data &amp; Sauvegarde</a:t>
            </a:r>
          </a:p>
        </p:txBody>
      </p:sp>
      <p:sp>
        <p:nvSpPr>
          <p:cNvPr id="3" name="Content Placeholder 2"/>
          <p:cNvSpPr>
            <a:spLocks noGrp="1"/>
          </p:cNvSpPr>
          <p:nvPr>
            <p:ph idx="1"/>
          </p:nvPr>
        </p:nvSpPr>
        <p:spPr/>
        <p:txBody>
          <a:bodyPr/>
          <a:lstStyle/>
          <a:p>
            <a:pPr>
              <a:defRPr sz="2400">
                <a:solidFill>
                  <a:srgbClr val="E6E6E6"/>
                </a:solidFill>
                <a:latin typeface="Segoe UI"/>
              </a:defRPr>
            </a:pPr>
            <a:r>
              <a:t>• Base PostgreSQL (Transactionnel)</a:t>
            </a:r>
          </a:p>
          <a:p>
            <a:pPr>
              <a:defRPr sz="2400">
                <a:solidFill>
                  <a:srgbClr val="E6E6E6"/>
                </a:solidFill>
                <a:latin typeface="Segoe UI"/>
              </a:defRPr>
            </a:pPr>
            <a:r>
              <a:t>• Base MongoDB (Logs IoT)</a:t>
            </a:r>
          </a:p>
          <a:p>
            <a:pPr>
              <a:defRPr sz="2400">
                <a:solidFill>
                  <a:srgbClr val="E6E6E6"/>
                </a:solidFill>
                <a:latin typeface="Segoe UI"/>
              </a:defRPr>
            </a:pPr>
            <a:r>
              <a:t>• Règle de sauvegarde du 3-2-1</a:t>
            </a:r>
          </a:p>
          <a:p>
            <a:pPr>
              <a:defRPr sz="2400">
                <a:solidFill>
                  <a:srgbClr val="E6E6E6"/>
                </a:solidFill>
                <a:latin typeface="Segoe UI"/>
              </a:defRPr>
            </a:pPr>
            <a:r>
              <a:t>• Externalisation sur Azure Blob Storage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Supervision &amp; Observabilité</a:t>
            </a:r>
          </a:p>
        </p:txBody>
      </p:sp>
      <p:sp>
        <p:nvSpPr>
          <p:cNvPr id="3" name="Content Placeholder 2"/>
          <p:cNvSpPr>
            <a:spLocks noGrp="1"/>
          </p:cNvSpPr>
          <p:nvPr>
            <p:ph idx="1" sz="half"/>
          </p:nvPr>
        </p:nvSpPr>
        <p:spPr/>
        <p:txBody>
          <a:bodyPr/>
          <a:lstStyle/>
          <a:p>
            <a:pPr>
              <a:defRPr sz="2400">
                <a:solidFill>
                  <a:srgbClr val="E6E6E6"/>
                </a:solidFill>
                <a:latin typeface="Segoe UI"/>
              </a:defRPr>
            </a:pPr>
            <a:r>
              <a:t>• Zabbix pour l'infrastructure et SNMP</a:t>
            </a:r>
          </a:p>
          <a:p>
            <a:pPr>
              <a:defRPr sz="2400">
                <a:solidFill>
                  <a:srgbClr val="E6E6E6"/>
                </a:solidFill>
                <a:latin typeface="Segoe UI"/>
              </a:defRPr>
            </a:pPr>
            <a:r>
              <a:t>• Grafana pour la data en temps réel</a:t>
            </a:r>
          </a:p>
          <a:p>
            <a:pPr>
              <a:defRPr sz="2400">
                <a:solidFill>
                  <a:srgbClr val="E6E6E6"/>
                </a:solidFill>
                <a:latin typeface="Segoe UI"/>
              </a:defRPr>
            </a:pPr>
            <a:r>
              <a:t>• Alerting intelligent via Slack/Pager</a:t>
            </a:r>
          </a:p>
          <a:p>
            <a:pPr>
              <a:defRPr sz="2400">
                <a:solidFill>
                  <a:srgbClr val="E6E6E6"/>
                </a:solidFill>
                <a:latin typeface="Segoe UI"/>
              </a:defRPr>
            </a:pPr>
            <a:r>
              <a:t>• Monitoring du tunnel IPsec</a:t>
            </a:r>
          </a:p>
        </p:txBody>
      </p:sp>
      <p:pic>
        <p:nvPicPr>
          <p:cNvPr id="4" name="Picture 3" descr="supervision_dashboard.pn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Résilience et Gestion des Incidents</a:t>
            </a:r>
          </a:p>
        </p:txBody>
      </p:sp>
      <p:sp>
        <p:nvSpPr>
          <p:cNvPr id="3" name="Content Placeholder 2"/>
          <p:cNvSpPr>
            <a:spLocks noGrp="1"/>
          </p:cNvSpPr>
          <p:nvPr>
            <p:ph idx="1"/>
          </p:nvPr>
        </p:nvSpPr>
        <p:spPr/>
        <p:txBody>
          <a:bodyPr/>
          <a:lstStyle/>
          <a:p>
            <a:pPr>
              <a:defRPr sz="2400">
                <a:solidFill>
                  <a:srgbClr val="E6E6E6"/>
                </a:solidFill>
                <a:latin typeface="Segoe UI"/>
              </a:defRPr>
            </a:pPr>
            <a:r>
              <a:t>• Plan de Reprise d'Activité (PRA)</a:t>
            </a:r>
          </a:p>
          <a:p>
            <a:pPr>
              <a:defRPr sz="2400">
                <a:solidFill>
                  <a:srgbClr val="E6E6E6"/>
                </a:solidFill>
                <a:latin typeface="Segoe UI"/>
              </a:defRPr>
            </a:pPr>
            <a:r>
              <a:t>• Analyse d'Impact (BIA)</a:t>
            </a:r>
          </a:p>
          <a:p>
            <a:pPr>
              <a:defRPr sz="2400">
                <a:solidFill>
                  <a:srgbClr val="E6E6E6"/>
                </a:solidFill>
                <a:latin typeface="Segoe UI"/>
              </a:defRPr>
            </a:pPr>
            <a:r>
              <a:t>• Objectif RTO : 4 heures maximum</a:t>
            </a:r>
          </a:p>
          <a:p>
            <a:pPr>
              <a:defRPr sz="2400">
                <a:solidFill>
                  <a:srgbClr val="E6E6E6"/>
                </a:solidFill>
                <a:latin typeface="Segoe UI"/>
              </a:defRPr>
            </a:pPr>
            <a:r>
              <a:t>• Processus structurés ITSM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C8FF"/>
                </a:solidFill>
                <a:latin typeface="Segoe UI"/>
              </a:defRPr>
            </a:pPr>
            <a:r>
              <a:t>Bilan &amp; Démonstration</a:t>
            </a:r>
          </a:p>
        </p:txBody>
      </p:sp>
      <p:sp>
        <p:nvSpPr>
          <p:cNvPr id="3" name="Content Placeholder 2"/>
          <p:cNvSpPr>
            <a:spLocks noGrp="1"/>
          </p:cNvSpPr>
          <p:nvPr>
            <p:ph idx="1"/>
          </p:nvPr>
        </p:nvSpPr>
        <p:spPr/>
        <p:txBody>
          <a:bodyPr/>
          <a:lstStyle/>
          <a:p>
            <a:pPr>
              <a:defRPr sz="2400">
                <a:solidFill>
                  <a:srgbClr val="E6E6E6"/>
                </a:solidFill>
                <a:latin typeface="Segoe UI"/>
              </a:defRPr>
            </a:pPr>
            <a:r>
              <a:t>• Cahier des charges respecté</a:t>
            </a:r>
          </a:p>
          <a:p>
            <a:pPr>
              <a:defRPr sz="2400">
                <a:solidFill>
                  <a:srgbClr val="E6E6E6"/>
                </a:solidFill>
                <a:latin typeface="Segoe UI"/>
              </a:defRPr>
            </a:pPr>
            <a:r>
              <a:t>• Hybridation parfaitement maîtrisée</a:t>
            </a:r>
          </a:p>
          <a:p>
            <a:pPr>
              <a:defRPr sz="2400">
                <a:solidFill>
                  <a:srgbClr val="E6E6E6"/>
                </a:solidFill>
                <a:latin typeface="Segoe UI"/>
              </a:defRPr>
            </a:pPr>
            <a:r>
              <a:t>• Infrastructure scalable à 200+ employés</a:t>
            </a:r>
          </a:p>
          <a:p>
            <a:pPr>
              <a:defRPr sz="2400">
                <a:solidFill>
                  <a:srgbClr val="E6E6E6"/>
                </a:solidFill>
                <a:latin typeface="Segoe UI"/>
              </a:defRPr>
            </a:pPr>
            <a:r>
              <a:t>• Démonstration de la plateforme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